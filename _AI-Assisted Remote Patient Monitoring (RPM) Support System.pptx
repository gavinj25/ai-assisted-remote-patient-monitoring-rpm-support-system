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j8+7C2KqAA29FtYARc30nthBgz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E2502B-0B79-416F-B879-AD75A967105E}">
  <a:tblStyle styleId="{5FE2502B-0B79-416F-B879-AD75A96710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fba0ccca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fba0ccca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fba0ccca0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fba0ccca0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fba0ccca0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fba0ccca0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fba0ccca0_1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bfba0ccca0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fba0ccca0_1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fba0ccca0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fba0ccca0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fba0ccca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fba0ccca0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fba0ccca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3" name="Google Shape;3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831850" y="581583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Agentic AI Hackathon: Building Intelligent Agents with IBM Granite and LangFlow</a:t>
            </a:r>
            <a:endParaRPr/>
          </a:p>
        </p:txBody>
      </p:sp>
      <p:sp>
        <p:nvSpPr>
          <p:cNvPr id="79" name="Google Shape;79;p33"/>
          <p:cNvSpPr txBox="1"/>
          <p:nvPr>
            <p:ph idx="1" type="body"/>
          </p:nvPr>
        </p:nvSpPr>
        <p:spPr>
          <a:xfrm>
            <a:off x="1014730" y="39036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b="1" i="1" lang="en-US"/>
              <a:t> AI-Assisted Remote Patient Monitoring (RPM) Support System</a:t>
            </a:r>
            <a:endParaRPr b="1" i="1"/>
          </a:p>
        </p:txBody>
      </p:sp>
      <p:pic>
        <p:nvPicPr>
          <p:cNvPr id="80" name="Google Shape;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2252850" y="416207"/>
            <a:ext cx="7301700" cy="10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b="1" lang="en-US" sz="350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PLUNGE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2190457" y="1490505"/>
            <a:ext cx="74265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b="1" i="0" sz="3200" u="none" cap="none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8" name="Google Shape;88;p2"/>
          <p:cNvGraphicFramePr/>
          <p:nvPr/>
        </p:nvGraphicFramePr>
        <p:xfrm>
          <a:off x="909227" y="2130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{5FE2502B-0B79-416F-B879-AD75A967105E}</a:tableStyleId>
              </a:tblPr>
              <a:tblGrid>
                <a:gridCol w="2909375"/>
                <a:gridCol w="2158425"/>
                <a:gridCol w="2478325"/>
                <a:gridCol w="2941375"/>
              </a:tblGrid>
              <a:tr h="79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TEAM MEMBER NAME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Recent Passport Photo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9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Gavin Darius Addison J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300"/>
                        <a:t>gavindarius.ci23@bmsce.ac.in</a:t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9538423688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1262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Pranati A P 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300"/>
                        <a:t>pranatiap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.ci23@bmsce.ac.in</a:t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7975246491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970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Niharika Rao K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300"/>
                        <a:t>niharikarao</a:t>
                      </a:r>
                      <a:r>
                        <a:rPr lang="en-US" sz="1300">
                          <a:solidFill>
                            <a:schemeClr val="dk1"/>
                          </a:solidFill>
                        </a:rPr>
                        <a:t>.ci23@bmsce.ac.in</a:t>
                      </a:r>
                      <a:endParaRPr sz="13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9663127235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4"/>
          <p:cNvSpPr txBox="1"/>
          <p:nvPr/>
        </p:nvSpPr>
        <p:spPr>
          <a:xfrm>
            <a:off x="1549351" y="1677278"/>
            <a:ext cx="9093300" cy="3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"The Silent Crisis in Home Healthcare"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The Data Tsunami:</a:t>
            </a:r>
            <a:r>
              <a:rPr lang="en-US" sz="1300">
                <a:solidFill>
                  <a:schemeClr val="dk1"/>
                </a:solidFill>
              </a:rPr>
              <a:t> Modern wearables generate thousands of data points daily. Healthcare providers are drowning in noise, leading to </a:t>
            </a:r>
            <a:r>
              <a:rPr b="1" lang="en-US" sz="1300">
                <a:solidFill>
                  <a:schemeClr val="dk1"/>
                </a:solidFill>
              </a:rPr>
              <a:t>"Alert Fatigue"</a:t>
            </a:r>
            <a:r>
              <a:rPr lang="en-US" sz="1300">
                <a:solidFill>
                  <a:schemeClr val="dk1"/>
                </a:solidFill>
              </a:rPr>
              <a:t>—where critical warnings are ignored because of false alarm</a:t>
            </a:r>
            <a:r>
              <a:rPr lang="en-US" sz="1300">
                <a:solidFill>
                  <a:schemeClr val="dk1"/>
                </a:solidFill>
              </a:rPr>
              <a:t>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The Latency Trap:</a:t>
            </a:r>
            <a:r>
              <a:rPr lang="en-US" sz="1300">
                <a:solidFill>
                  <a:schemeClr val="dk1"/>
                </a:solidFill>
              </a:rPr>
              <a:t> Current systems are reactive. By the time a doctor notices a deterioration trend manually, the patient is often already in critical condition.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Resource Burnout:</a:t>
            </a:r>
            <a:r>
              <a:rPr lang="en-US" sz="1300">
                <a:solidFill>
                  <a:schemeClr val="dk1"/>
                </a:solidFill>
              </a:rPr>
              <a:t> High hospital readmission rates occur simply because there is no scalable way to monitor patients effectively outside clinical walls.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The Gap:</a:t>
            </a:r>
            <a:r>
              <a:rPr lang="en-US" sz="1300">
                <a:solidFill>
                  <a:schemeClr val="dk1"/>
                </a:solidFill>
              </a:rPr>
              <a:t> We lack an intelligent "Filter" that bridges the gap between raw sensor data and clinical decision-making.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5" name="Google Shape;95;p34"/>
          <p:cNvSpPr txBox="1"/>
          <p:nvPr/>
        </p:nvSpPr>
        <p:spPr>
          <a:xfrm>
            <a:off x="669343" y="755300"/>
            <a:ext cx="725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 (The Challenge)</a:t>
            </a:r>
            <a:endParaRPr/>
          </a:p>
        </p:txBody>
      </p:sp>
      <p:pic>
        <p:nvPicPr>
          <p:cNvPr id="96" name="Google Shape;9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893255" y="741143"/>
            <a:ext cx="45391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Proposed solution </a:t>
            </a:r>
            <a:endParaRPr/>
          </a:p>
        </p:txBody>
      </p:sp>
      <p:pic>
        <p:nvPicPr>
          <p:cNvPr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 txBox="1"/>
          <p:nvPr/>
        </p:nvSpPr>
        <p:spPr>
          <a:xfrm>
            <a:off x="1549351" y="1486053"/>
            <a:ext cx="9093300" cy="4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"Meet Granite-Guard: An Agentic Defense System"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Core Concept:</a:t>
            </a:r>
            <a:r>
              <a:rPr lang="en-US" sz="1300">
                <a:solidFill>
                  <a:schemeClr val="dk1"/>
                </a:solidFill>
              </a:rPr>
              <a:t> An autonomous tri-agent system that monitors, analyzes, and acts in real-time.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The 3-Agent Architecture: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The Analyst:</a:t>
            </a:r>
            <a:r>
              <a:rPr lang="en-US" sz="1300">
                <a:solidFill>
                  <a:schemeClr val="dk1"/>
                </a:solidFill>
              </a:rPr>
              <a:t> Normalizes raw JSON streams into readable health summaries.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The Detective (Risk Agent):</a:t>
            </a:r>
            <a:r>
              <a:rPr lang="en-US" sz="1300">
                <a:solidFill>
                  <a:schemeClr val="dk1"/>
                </a:solidFill>
              </a:rPr>
              <a:t> Compares current vitals against historical baselines to detect subtle deterioration.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The Guardian (Guidance Agent):</a:t>
            </a:r>
            <a:r>
              <a:rPr lang="en-US" sz="1300">
                <a:solidFill>
                  <a:schemeClr val="dk1"/>
                </a:solidFill>
              </a:rPr>
              <a:t> Provides safe, RAG-grounded advice to patients.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Tech Synergy:</a:t>
            </a:r>
            <a:r>
              <a:rPr lang="en-US" sz="1300">
                <a:solidFill>
                  <a:schemeClr val="dk1"/>
                </a:solidFill>
              </a:rPr>
              <a:t> Built on </a:t>
            </a:r>
            <a:r>
              <a:rPr b="1" lang="en-US" sz="1300">
                <a:solidFill>
                  <a:schemeClr val="dk1"/>
                </a:solidFill>
              </a:rPr>
              <a:t>LangFlow</a:t>
            </a:r>
            <a:r>
              <a:rPr lang="en-US" sz="1300">
                <a:solidFill>
                  <a:schemeClr val="dk1"/>
                </a:solidFill>
              </a:rPr>
              <a:t> for orchestration and </a:t>
            </a:r>
            <a:r>
              <a:rPr b="1" lang="en-US" sz="1300">
                <a:solidFill>
                  <a:schemeClr val="dk1"/>
                </a:solidFill>
              </a:rPr>
              <a:t>IBM Granite</a:t>
            </a:r>
            <a:r>
              <a:rPr lang="en-US" sz="1300">
                <a:solidFill>
                  <a:schemeClr val="dk1"/>
                </a:solidFill>
              </a:rPr>
              <a:t> for trustworthy, enterprise-grade reasoning.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Key Feature: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"Zero-Click Dispatch"</a:t>
            </a:r>
            <a:r>
              <a:rPr lang="en-US" sz="1300">
                <a:solidFill>
                  <a:schemeClr val="dk1"/>
                </a:solidFill>
              </a:rPr>
              <a:t> – The system can autonomously trigger an ambulance API call if the </a:t>
            </a:r>
            <a:r>
              <a:rPr i="1" lang="en-US" sz="1300">
                <a:solidFill>
                  <a:schemeClr val="dk1"/>
                </a:solidFill>
              </a:rPr>
              <a:t>Emergency Score</a:t>
            </a:r>
            <a:r>
              <a:rPr lang="en-US" sz="1300">
                <a:solidFill>
                  <a:schemeClr val="dk1"/>
                </a:solidFill>
              </a:rPr>
              <a:t> exceeds a critical threshold (e.g., &gt;85/100).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5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35"/>
          <p:cNvSpPr txBox="1"/>
          <p:nvPr/>
        </p:nvSpPr>
        <p:spPr>
          <a:xfrm>
            <a:off x="1005850" y="1584075"/>
            <a:ext cx="10268700" cy="3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"Why This Matters Now"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Proactive vs. Reactive:</a:t>
            </a:r>
            <a:r>
              <a:rPr lang="en-US" sz="1300">
                <a:solidFill>
                  <a:schemeClr val="dk1"/>
                </a:solidFill>
              </a:rPr>
              <a:t> We are shifting the paradigm from </a:t>
            </a:r>
            <a:r>
              <a:rPr i="1" lang="en-US" sz="1300">
                <a:solidFill>
                  <a:schemeClr val="dk1"/>
                </a:solidFill>
              </a:rPr>
              <a:t>treating sickness</a:t>
            </a:r>
            <a:r>
              <a:rPr lang="en-US" sz="1300">
                <a:solidFill>
                  <a:schemeClr val="dk1"/>
                </a:solidFill>
              </a:rPr>
              <a:t> to </a:t>
            </a:r>
            <a:r>
              <a:rPr i="1" lang="en-US" sz="1300">
                <a:solidFill>
                  <a:schemeClr val="dk1"/>
                </a:solidFill>
              </a:rPr>
              <a:t>preserving health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Scalability:</a:t>
            </a:r>
            <a:r>
              <a:rPr lang="en-US" sz="1300">
                <a:solidFill>
                  <a:schemeClr val="dk1"/>
                </a:solidFill>
              </a:rPr>
              <a:t> A single nurse can currently monitor ~20 patients. With Granite-Guard's intelligent filtering, one nurse can effectively monitor </a:t>
            </a:r>
            <a:r>
              <a:rPr b="1" lang="en-US" sz="1300">
                <a:solidFill>
                  <a:schemeClr val="dk1"/>
                </a:solidFill>
              </a:rPr>
              <a:t>200+ patients</a:t>
            </a:r>
            <a:r>
              <a:rPr lang="en-US" sz="1300">
                <a:solidFill>
                  <a:schemeClr val="dk1"/>
                </a:solidFill>
              </a:rPr>
              <a:t>, focusing only on those flagged by the AI.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Clinical Safety:</a:t>
            </a:r>
            <a:r>
              <a:rPr lang="en-US" sz="1300">
                <a:solidFill>
                  <a:schemeClr val="dk1"/>
                </a:solidFill>
              </a:rPr>
              <a:t> Unlike generic chatbots, our system uses </a:t>
            </a:r>
            <a:r>
              <a:rPr b="1" lang="en-US" sz="1300">
                <a:solidFill>
                  <a:schemeClr val="dk1"/>
                </a:solidFill>
              </a:rPr>
              <a:t>RAG (Retrieval-Augmented Generation)</a:t>
            </a:r>
            <a:r>
              <a:rPr lang="en-US" sz="1300">
                <a:solidFill>
                  <a:schemeClr val="dk1"/>
                </a:solidFill>
              </a:rPr>
              <a:t>. Every piece of advice is cross-referenced with uploaded medical guidelines (AMA/AHA standards), drastically reducing AI hallucinations.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Economic Impact:</a:t>
            </a:r>
            <a:r>
              <a:rPr lang="en-US" sz="1300">
                <a:solidFill>
                  <a:schemeClr val="dk1"/>
                </a:solidFill>
              </a:rPr>
              <a:t> Reduces costly emergency room visits and hospital readmissions.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1" name="Google Shape;111;p35"/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of project </a:t>
            </a:r>
            <a:endParaRPr/>
          </a:p>
        </p:txBody>
      </p:sp>
      <p:pic>
        <p:nvPicPr>
          <p:cNvPr id="112" name="Google Shape;1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6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36"/>
          <p:cNvSpPr txBox="1"/>
          <p:nvPr/>
        </p:nvSpPr>
        <p:spPr>
          <a:xfrm>
            <a:off x="1005840" y="1584102"/>
            <a:ext cx="10268700" cy="43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"Tailored Views for Every Stakeholder"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👩‍⚕️ For Doctors:</a:t>
            </a:r>
            <a:r>
              <a:rPr lang="en-US" sz="1300">
                <a:solidFill>
                  <a:schemeClr val="dk1"/>
                </a:solidFill>
              </a:rPr>
              <a:t> A "Command Center" dashboard. They see rapid deterioration trends, override AI alerts, and view deep clinical history.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🏥 For Nurses/Front-Desk:</a:t>
            </a:r>
            <a:r>
              <a:rPr lang="en-US" sz="1300">
                <a:solidFill>
                  <a:schemeClr val="dk1"/>
                </a:solidFill>
              </a:rPr>
              <a:t> A prioritized "Watch List." Patients are ranked by </a:t>
            </a:r>
            <a:r>
              <a:rPr i="1" lang="en-US" sz="1300">
                <a:solidFill>
                  <a:schemeClr val="dk1"/>
                </a:solidFill>
              </a:rPr>
              <a:t>Emergency Score</a:t>
            </a:r>
            <a:r>
              <a:rPr lang="en-US" sz="1300">
                <a:solidFill>
                  <a:schemeClr val="dk1"/>
                </a:solidFill>
              </a:rPr>
              <a:t>, allowing staff to triage resources instantly.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👨‍👩‍👧 For Families:</a:t>
            </a:r>
            <a:r>
              <a:rPr lang="en-US" sz="1300">
                <a:solidFill>
                  <a:schemeClr val="dk1"/>
                </a:solidFill>
              </a:rPr>
              <a:t> A "Peace of Mind" app. They receive simplified status updates (e.g., "Dad is stable") without confusing medical jargon, compliant with HIPAA privacy rules.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🚑 For Emergency Services:</a:t>
            </a:r>
            <a:r>
              <a:rPr lang="en-US" sz="1300">
                <a:solidFill>
                  <a:schemeClr val="dk1"/>
                </a:solidFill>
              </a:rPr>
              <a:t> Automated, data-rich dispatch requests containing location, vital history, and suspected condition code.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9" name="Google Shape;119;p36"/>
          <p:cNvSpPr txBox="1"/>
          <p:nvPr/>
        </p:nvSpPr>
        <p:spPr>
          <a:xfrm>
            <a:off x="1034441" y="524940"/>
            <a:ext cx="54964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 user of project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7"/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Technology Used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7"/>
          <p:cNvSpPr txBox="1"/>
          <p:nvPr/>
        </p:nvSpPr>
        <p:spPr>
          <a:xfrm>
            <a:off x="777240" y="1207008"/>
            <a:ext cx="105156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"Built on Trustworthy AI"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Orchestration Engine: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LangFlow</a:t>
            </a:r>
            <a:r>
              <a:rPr lang="en-US" sz="1300">
                <a:solidFill>
                  <a:schemeClr val="dk1"/>
                </a:solidFill>
              </a:rPr>
              <a:t> – Enables visual chaining of complex logic and rapid prototyping of agent behaviors.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The Brain (LLM):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IBM Granite (ibm/granite-13b-chat-v2)</a:t>
            </a:r>
            <a:r>
              <a:rPr lang="en-US" sz="1300">
                <a:solidFill>
                  <a:schemeClr val="dk1"/>
                </a:solidFill>
              </a:rPr>
              <a:t> – Chosen for its superior performance in enterprise tasks and lower tendency for hallucination compared to creative models.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Storage &amp; Ingestion: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IBM Cloud Object Storage</a:t>
            </a:r>
            <a:r>
              <a:rPr lang="en-US" sz="1300">
                <a:solidFill>
                  <a:schemeClr val="dk1"/>
                </a:solidFill>
              </a:rPr>
              <a:t> – Secure, scalable repository for continuous IoT JSON streams.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Knowledge Base (RAG):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Astra DB / Watsonx.ai</a:t>
            </a:r>
            <a:r>
              <a:rPr lang="en-US" sz="1300">
                <a:solidFill>
                  <a:schemeClr val="dk1"/>
                </a:solidFill>
              </a:rPr>
              <a:t> – Stores vectorized clinical guidelines for the AI to "consult" before answering.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Interface: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Streamlit</a:t>
            </a:r>
            <a:r>
              <a:rPr lang="en-US" sz="1300">
                <a:solidFill>
                  <a:schemeClr val="dk1"/>
                </a:solidFill>
              </a:rPr>
              <a:t> – For rapid deployment of a responsive, Role-Based Access Control (RBAC) dashboard.</a:t>
            </a:r>
            <a:endParaRPr sz="1800"/>
          </a:p>
        </p:txBody>
      </p:sp>
      <p:pic>
        <p:nvPicPr>
          <p:cNvPr id="127" name="Google Shape;12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1218724" y="47559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1041600" y="1503717"/>
            <a:ext cx="10108800" cy="4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"What Sets Us Apart?"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Hybrid Validation Logic:</a:t>
            </a:r>
            <a:r>
              <a:rPr lang="en-US" sz="1300">
                <a:solidFill>
                  <a:schemeClr val="dk1"/>
                </a:solidFill>
              </a:rPr>
              <a:t> We don't rely solely on the LLM. We combine </a:t>
            </a:r>
            <a:r>
              <a:rPr b="1" lang="en-US" sz="1300">
                <a:solidFill>
                  <a:schemeClr val="dk1"/>
                </a:solidFill>
              </a:rPr>
              <a:t>Deterministic Math</a:t>
            </a:r>
            <a:r>
              <a:rPr lang="en-US" sz="1300">
                <a:solidFill>
                  <a:schemeClr val="dk1"/>
                </a:solidFill>
              </a:rPr>
              <a:t> (Emergency Score Formula) with </a:t>
            </a:r>
            <a:r>
              <a:rPr b="1" lang="en-US" sz="1300">
                <a:solidFill>
                  <a:schemeClr val="dk1"/>
                </a:solidFill>
              </a:rPr>
              <a:t>Probabilistic AI</a:t>
            </a:r>
            <a:r>
              <a:rPr lang="en-US" sz="1300">
                <a:solidFill>
                  <a:schemeClr val="dk1"/>
                </a:solidFill>
              </a:rPr>
              <a:t> (Granite Reasoning). This creates a "Double-Check" mechanism for safety.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Dynamic Role-Based Masking:</a:t>
            </a:r>
            <a:r>
              <a:rPr lang="en-US" sz="1300">
                <a:solidFill>
                  <a:schemeClr val="dk1"/>
                </a:solidFill>
              </a:rPr>
              <a:t> The UI dynamically changes the data granularity based on the user login. This is a first-of-its-kind feature in hackathon RPM systems, directly addressing </a:t>
            </a:r>
            <a:r>
              <a:rPr b="1" lang="en-US" sz="1300">
                <a:solidFill>
                  <a:schemeClr val="dk1"/>
                </a:solidFill>
              </a:rPr>
              <a:t>HIPAA "Minimum Necessary"</a:t>
            </a:r>
            <a:r>
              <a:rPr lang="en-US" sz="1300">
                <a:solidFill>
                  <a:schemeClr val="dk1"/>
                </a:solidFill>
              </a:rPr>
              <a:t> standards.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The Feedback Loop:</a:t>
            </a:r>
            <a:r>
              <a:rPr lang="en-US" sz="1300">
                <a:solidFill>
                  <a:schemeClr val="dk1"/>
                </a:solidFill>
              </a:rPr>
              <a:t> Our three agents talk to each other. The </a:t>
            </a:r>
            <a:r>
              <a:rPr i="1" lang="en-US" sz="1300">
                <a:solidFill>
                  <a:schemeClr val="dk1"/>
                </a:solidFill>
              </a:rPr>
              <a:t>Analyst's</a:t>
            </a:r>
            <a:r>
              <a:rPr lang="en-US" sz="1300">
                <a:solidFill>
                  <a:schemeClr val="dk1"/>
                </a:solidFill>
              </a:rPr>
              <a:t> summary informs the </a:t>
            </a:r>
            <a:r>
              <a:rPr i="1" lang="en-US" sz="1300">
                <a:solidFill>
                  <a:schemeClr val="dk1"/>
                </a:solidFill>
              </a:rPr>
              <a:t>Detective's</a:t>
            </a:r>
            <a:r>
              <a:rPr lang="en-US" sz="1300">
                <a:solidFill>
                  <a:schemeClr val="dk1"/>
                </a:solidFill>
              </a:rPr>
              <a:t> risk score, which informs the </a:t>
            </a:r>
            <a:r>
              <a:rPr i="1" lang="en-US" sz="1300">
                <a:solidFill>
                  <a:schemeClr val="dk1"/>
                </a:solidFill>
              </a:rPr>
              <a:t>Guardian's</a:t>
            </a:r>
            <a:r>
              <a:rPr lang="en-US" sz="1300">
                <a:solidFill>
                  <a:schemeClr val="dk1"/>
                </a:solidFill>
              </a:rPr>
              <a:t> advice.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b="1" lang="en-US" sz="1300">
                <a:solidFill>
                  <a:schemeClr val="dk1"/>
                </a:solidFill>
              </a:rPr>
              <a:t>Live Simulation:</a:t>
            </a:r>
            <a:r>
              <a:rPr lang="en-US" sz="1300">
                <a:solidFill>
                  <a:schemeClr val="dk1"/>
                </a:solidFill>
              </a:rPr>
              <a:t> Our prototype isn't static; it handles live data injection to simulate a cardiac event in real-time.</a:t>
            </a:r>
            <a:endParaRPr sz="205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1003545" y="364352"/>
            <a:ext cx="820782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flow diagram - Architecture blueprint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/>
        </p:nvSpPr>
        <p:spPr>
          <a:xfrm>
            <a:off x="615250" y="1682825"/>
            <a:ext cx="4813200" cy="42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Step 1: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Ingestion:</a:t>
            </a:r>
            <a:r>
              <a:rPr lang="en-US" sz="1300">
                <a:solidFill>
                  <a:schemeClr val="dk1"/>
                </a:solidFill>
              </a:rPr>
              <a:t> Wearable pushes JSON Data to IBM Cloud Bucket.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Step 2: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Trigger:</a:t>
            </a:r>
            <a:r>
              <a:rPr lang="en-US" sz="1300">
                <a:solidFill>
                  <a:schemeClr val="dk1"/>
                </a:solidFill>
              </a:rPr>
              <a:t> LangFlow Webhook detects new file and  Initiates Pipeline.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Step 3: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Retrieval:</a:t>
            </a:r>
            <a:r>
              <a:rPr lang="en-US" sz="1300">
                <a:solidFill>
                  <a:schemeClr val="dk1"/>
                </a:solidFill>
              </a:rPr>
              <a:t> RAG Node fetches "Cardiac Guidelines" from Vector Store.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Step 4: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Reasoning:</a:t>
            </a:r>
            <a:r>
              <a:rPr lang="en-US" sz="1300">
                <a:solidFill>
                  <a:schemeClr val="dk1"/>
                </a:solidFill>
              </a:rPr>
              <a:t> IBM Granite analyzes Vitals + Guidelines.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Step 5:</a:t>
            </a:r>
            <a:r>
              <a:rPr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chemeClr val="dk1"/>
                </a:solidFill>
              </a:rPr>
              <a:t>Decision: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i="1" lang="en-US" sz="1300">
                <a:solidFill>
                  <a:schemeClr val="dk1"/>
                </a:solidFill>
              </a:rPr>
              <a:t>If Score &gt; 85:</a:t>
            </a:r>
            <a:r>
              <a:rPr lang="en-US" sz="1300">
                <a:solidFill>
                  <a:schemeClr val="dk1"/>
                </a:solidFill>
              </a:rPr>
              <a:t> Trigger Ambulance Webhook + Red Alert.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i="1" lang="en-US" sz="1300">
                <a:solidFill>
                  <a:schemeClr val="dk1"/>
                </a:solidFill>
              </a:rPr>
              <a:t>If Score &lt; 85:</a:t>
            </a:r>
            <a:r>
              <a:rPr lang="en-US" sz="1300">
                <a:solidFill>
                  <a:schemeClr val="dk1"/>
                </a:solidFill>
              </a:rPr>
              <a:t> Update Database + Green Status.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0850" y="1666088"/>
            <a:ext cx="6458749" cy="3525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g3bfba0ccca0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286" y="0"/>
            <a:ext cx="74374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g3bfba0ccca0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9775" y="219075"/>
            <a:ext cx="8172450" cy="64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3bfba0ccca0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6613" y="152400"/>
            <a:ext cx="7078770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bfba0ccca0_1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013" y="1266825"/>
            <a:ext cx="8181975" cy="43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bfba0ccca0_1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050" y="1195388"/>
            <a:ext cx="8343900" cy="446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8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51D3A"/>
                </a:solidFill>
                <a:latin typeface="Arial"/>
                <a:ea typeface="Arial"/>
                <a:cs typeface="Arial"/>
                <a:sym typeface="Arial"/>
              </a:rPr>
              <a:t>Langflow component Used 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38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38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38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38"/>
          <p:cNvSpPr txBox="1"/>
          <p:nvPr/>
        </p:nvSpPr>
        <p:spPr>
          <a:xfrm>
            <a:off x="621792" y="1389888"/>
            <a:ext cx="88239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Webhook / Chat Input:</a:t>
            </a:r>
            <a:r>
              <a:rPr lang="en-US" sz="1300">
                <a:solidFill>
                  <a:schemeClr val="dk1"/>
                </a:solidFill>
              </a:rPr>
              <a:t> The "Listener." It accepts the incoming JSON payload from the mock wearable device.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Prompt Template:</a:t>
            </a:r>
            <a:r>
              <a:rPr lang="en-US" sz="1300">
                <a:solidFill>
                  <a:schemeClr val="dk1"/>
                </a:solidFill>
              </a:rPr>
              <a:t> The "Translator." It formats the raw JSON into a natural language prompt: </a:t>
            </a:r>
            <a:endParaRPr sz="1300">
              <a:solidFill>
                <a:schemeClr val="dk1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300">
                <a:solidFill>
                  <a:schemeClr val="dk1"/>
                </a:solidFill>
              </a:rPr>
              <a:t>"Patient X has HR 140. Guidelines say Y. Analyze risk."</a:t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IBM watsonx AI Agent:</a:t>
            </a:r>
            <a:r>
              <a:rPr lang="en-US" sz="1300">
                <a:solidFill>
                  <a:schemeClr val="dk1"/>
                </a:solidFill>
              </a:rPr>
              <a:t> The "Brain." Configured with </a:t>
            </a: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granite-13b-chat</a:t>
            </a:r>
            <a:r>
              <a:rPr lang="en-US" sz="1300">
                <a:solidFill>
                  <a:schemeClr val="dk1"/>
                </a:solidFill>
              </a:rPr>
              <a:t>, </a:t>
            </a:r>
            <a:endParaRPr sz="1300">
              <a:solidFill>
                <a:schemeClr val="dk1"/>
              </a:solidFill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</a:rPr>
              <a:t>temperature 0.1 (low creativity) for strict medical analysis.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Astra DB (Vector Search):</a:t>
            </a:r>
            <a:r>
              <a:rPr lang="en-US" sz="1300">
                <a:solidFill>
                  <a:schemeClr val="dk1"/>
                </a:solidFill>
              </a:rPr>
              <a:t> The "Library." Retrieves specific paragraphs from the </a:t>
            </a:r>
            <a:r>
              <a:rPr i="1" lang="en-US" sz="1300">
                <a:solidFill>
                  <a:schemeClr val="dk1"/>
                </a:solidFill>
              </a:rPr>
              <a:t>Remote Patient Monitoring  Playbook</a:t>
            </a:r>
            <a:r>
              <a:rPr lang="en-US" sz="1300">
                <a:solidFill>
                  <a:schemeClr val="dk1"/>
                </a:solidFill>
              </a:rPr>
              <a:t> relevant to the current symptoms.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Conditional Router:</a:t>
            </a:r>
            <a:r>
              <a:rPr lang="en-US" sz="1300">
                <a:solidFill>
                  <a:schemeClr val="dk1"/>
                </a:solidFill>
              </a:rPr>
              <a:t> The "Traffic Cop." Uses logic (</a:t>
            </a:r>
            <a:r>
              <a:rPr lang="en-US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 emergency_score &gt; 85</a:t>
            </a:r>
            <a:r>
              <a:rPr lang="en-US" sz="1300">
                <a:solidFill>
                  <a:schemeClr val="dk1"/>
                </a:solidFill>
              </a:rPr>
              <a:t>) to route the flow down the Emergency path or the Routine path.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HTTP Request Tool:</a:t>
            </a:r>
            <a:r>
              <a:rPr lang="en-US" sz="1300">
                <a:solidFill>
                  <a:schemeClr val="dk1"/>
                </a:solidFill>
              </a:rPr>
              <a:t> The "Hand." Sends the POST request to the external ambulance dispatch system.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838775" y="200750"/>
            <a:ext cx="5051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1" lang="en-US" sz="2400"/>
              <a:t>AG Implementation in LangFlow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6" name="Google Shape;18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9075" y="821263"/>
            <a:ext cx="4684076" cy="5215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 txBox="1"/>
          <p:nvPr/>
        </p:nvSpPr>
        <p:spPr>
          <a:xfrm>
            <a:off x="1065320" y="138955"/>
            <a:ext cx="54666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Screenshot 2</a:t>
            </a:r>
            <a:endParaRPr/>
          </a:p>
        </p:txBody>
      </p:sp>
      <p:pic>
        <p:nvPicPr>
          <p:cNvPr id="193" name="Google Shape;19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8500" y="753020"/>
            <a:ext cx="11595008" cy="5410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 txBox="1"/>
          <p:nvPr/>
        </p:nvSpPr>
        <p:spPr>
          <a:xfrm>
            <a:off x="1065320" y="138955"/>
            <a:ext cx="526071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Screenshot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0138" y="723945"/>
            <a:ext cx="10431719" cy="5410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g3bfba0ccca0_1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511901" cy="480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3bfba0ccca0_1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8825" y="1547125"/>
            <a:ext cx="5643174" cy="531087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bfba0ccca0_1_1"/>
          <p:cNvSpPr txBox="1"/>
          <p:nvPr/>
        </p:nvSpPr>
        <p:spPr>
          <a:xfrm>
            <a:off x="6785625" y="162850"/>
            <a:ext cx="5130000" cy="11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Application for Doctor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g3bfba0ccca0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686101" cy="5975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bfba0ccca0_1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175" y="3130424"/>
            <a:ext cx="5554826" cy="372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 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43"/>
          <p:cNvSpPr/>
          <p:nvPr/>
        </p:nvSpPr>
        <p:spPr>
          <a:xfrm>
            <a:off x="1282725" y="1124750"/>
            <a:ext cx="9809400" cy="4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"Roadmap to Production"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Short Term: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-US" sz="1300">
                <a:solidFill>
                  <a:schemeClr val="dk1"/>
                </a:solidFill>
              </a:rPr>
              <a:t>EHR Integration:</a:t>
            </a:r>
            <a:r>
              <a:rPr lang="en-US" sz="1300">
                <a:solidFill>
                  <a:schemeClr val="dk1"/>
                </a:solidFill>
              </a:rPr>
              <a:t> Using HL7/FHIR standards to write these alerts directly into hospital systems like Epic or Cerner.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-US" sz="1300">
                <a:solidFill>
                  <a:schemeClr val="dk1"/>
                </a:solidFill>
              </a:rPr>
              <a:t>Multi-Lingual Support:</a:t>
            </a:r>
            <a:r>
              <a:rPr lang="en-US" sz="1300">
                <a:solidFill>
                  <a:schemeClr val="dk1"/>
                </a:solidFill>
              </a:rPr>
              <a:t> Leveraging IBM Granite’s translation capabilities to offer patient guidance in Spanish, Hindi, and Mandarin.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US" sz="1300">
                <a:solidFill>
                  <a:schemeClr val="dk1"/>
                </a:solidFill>
              </a:rPr>
              <a:t>Long Term: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-US" sz="1300">
                <a:solidFill>
                  <a:schemeClr val="dk1"/>
                </a:solidFill>
              </a:rPr>
              <a:t>Predictive AI:</a:t>
            </a:r>
            <a:r>
              <a:rPr lang="en-US" sz="1300">
                <a:solidFill>
                  <a:schemeClr val="dk1"/>
                </a:solidFill>
              </a:rPr>
              <a:t> Moving from </a:t>
            </a:r>
            <a:r>
              <a:rPr i="1" lang="en-US" sz="1300">
                <a:solidFill>
                  <a:schemeClr val="dk1"/>
                </a:solidFill>
              </a:rPr>
              <a:t>detecting</a:t>
            </a:r>
            <a:r>
              <a:rPr lang="en-US" sz="1300">
                <a:solidFill>
                  <a:schemeClr val="dk1"/>
                </a:solidFill>
              </a:rPr>
              <a:t> events to </a:t>
            </a:r>
            <a:r>
              <a:rPr i="1" lang="en-US" sz="1300">
                <a:solidFill>
                  <a:schemeClr val="dk1"/>
                </a:solidFill>
              </a:rPr>
              <a:t>predicting</a:t>
            </a:r>
            <a:r>
              <a:rPr lang="en-US" sz="1300">
                <a:solidFill>
                  <a:schemeClr val="dk1"/>
                </a:solidFill>
              </a:rPr>
              <a:t> them 4 hours in advance using LSTM (Long Short-Term Memory) networks on the historical data.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b="1" lang="en-US" sz="1300">
                <a:solidFill>
                  <a:schemeClr val="dk1"/>
                </a:solidFill>
              </a:rPr>
              <a:t>Video Telehealth:</a:t>
            </a:r>
            <a:r>
              <a:rPr lang="en-US" sz="1300">
                <a:solidFill>
                  <a:schemeClr val="dk1"/>
                </a:solidFill>
              </a:rPr>
              <a:t> Automatically scheduling a Zoom call if a patient hits a "Medium Risk" threshold.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sz="205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1" name="Google Shape;22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b="1" lang="en-US" sz="350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Link</a:t>
            </a:r>
            <a:endParaRPr b="1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44"/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https://github.com/GavinJ25/AI-Assisted-Remote-Patient-Monitoring-RPM-Support-System</a:t>
            </a:r>
            <a:endParaRPr b="0" i="0" sz="1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5"/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Key References: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IBM Granite Model Card &amp; Watsonx.ai Docs.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American Medical Association (AMA) Digital Health Playbook.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</a:rPr>
              <a:t>U.S. Dept of Health &amp; Human Services (HIPAA Compliance Guidelines).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62162"/>
              </a:lnSpc>
              <a:spcBef>
                <a:spcPts val="120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t/>
            </a:r>
            <a:endParaRPr sz="185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5" name="Google Shape;23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797" y="6315517"/>
            <a:ext cx="11520407" cy="310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2025-07-08T05:06:56Z</dcterms:created>
  <dc:creator>Manda Anirudh</dc:creator>
</cp:coreProperties>
</file>